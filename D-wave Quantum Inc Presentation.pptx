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4" r:id="rId3"/>
    <p:sldId id="268" r:id="rId4"/>
    <p:sldId id="263" r:id="rId5"/>
    <p:sldId id="260" r:id="rId6"/>
    <p:sldId id="267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2C18A-2F01-D94B-8EFB-BB5EE3C5E6AA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BD485-05A3-8948-8D97-8634C5472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61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D-wave compare to other peers takes on a h</a:t>
            </a:r>
            <a:r>
              <a:rPr lang="en-US"/>
              <a:t>igh leverage compared to other startups; less financially conservative</a:t>
            </a:r>
            <a:r>
              <a:rPr lang="en-US">
                <a:latin typeface="Aptos"/>
                <a:ea typeface="Calibri"/>
                <a:cs typeface="Calibri"/>
              </a:rPr>
              <a:t>. </a:t>
            </a:r>
            <a:r>
              <a:rPr lang="en-US"/>
              <a:t>D-Wave shows early-stage growth potential, but financial stability and investor confidence still lag behind leading players.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BD485-05A3-8948-8D97-8634C5472DE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7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AE4FD-51AB-16F8-0D4C-94FC08715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1E4BC-4C19-D38F-F28C-9EED81535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3B4F3-7DC7-1DE7-41A3-4C43EC0CD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81E1A-5941-3941-92B3-46876160F92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AD1DC-6F99-6048-708D-057DA13C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57BE7-A207-AE3E-06EF-606C9DEB4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B3D87-B394-ED4E-AFD3-BE6A47AF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917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B77C6-A0FC-FC0D-5504-303431911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E9167-E92D-2F14-7BDD-AF09F9C70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0DA83-1C5F-EC0C-9B30-E092BC6AF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81E1A-5941-3941-92B3-46876160F92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1B29B-C811-59E6-E064-23488F5EB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1A1BE-43C3-5D02-E871-58EC50D5A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B3D87-B394-ED4E-AFD3-BE6A47AF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2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7F168-6BE9-F9F6-C14B-D149B84B3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828D8-05EE-DF4D-1DAB-3CF7465CB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3345F-DE15-C539-2103-D7731FAEC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81E1A-5941-3941-92B3-46876160F92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1B21E-B2BD-3638-6948-8F7741DCE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499E4-1494-6E5A-3E9B-854C8B9EE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B3D87-B394-ED4E-AFD3-BE6A47AF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60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62FA3-1B2D-B30B-BB5F-34D2CA593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3F36A-1E34-A2D6-C225-C1E15ABF9D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5196FF-7D54-C781-3AA3-9615A682D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178F3-F542-AEB1-EEF4-FC5082F7A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81E1A-5941-3941-92B3-46876160F92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1A0EC-2AA6-C09C-3845-BF76878AB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2C5C1-DD3B-C0EA-8F69-C55D585C6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B3D87-B394-ED4E-AFD3-BE6A47AF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390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05632-7C24-3460-D5F0-9962DB0D7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E7ECC-040C-F9D1-62F9-08EC5B4FA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E6457-499B-15FE-238A-63E0940E4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9A4300-127D-83AE-BB06-9C8A3E533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84CE24-C50E-5429-5F3C-10EAA445E2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96D082-1DAA-DDCB-FA54-9AAC985A4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81E1A-5941-3941-92B3-46876160F92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9E2661-324E-CA51-FC99-A350E95FB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B6BCA7-F190-116A-31E9-93F79409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B3D87-B394-ED4E-AFD3-BE6A47AF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59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CB782-4E3A-303D-F7B8-4007C0040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5B1CAB-7C43-AC3B-7647-7B0DAAB56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81E1A-5941-3941-92B3-46876160F92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3EF40-B559-362B-BDD5-5A8141A35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B7B96D-C8FE-F5D8-7E37-99B729522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B3D87-B394-ED4E-AFD3-BE6A47AF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61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8A60D-52FC-0F80-3CBE-9C92749EC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81E1A-5941-3941-92B3-46876160F92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2BA338-C4E8-40BA-666F-A0D453D6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F99B7-525C-AC1F-5968-7B8B917ED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B3D87-B394-ED4E-AFD3-BE6A47AF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43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3E119-DE34-AE7C-7BA6-3F866D819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32A2A-4DD0-211B-F256-5BBE92B0A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003A2-72A5-D138-00CC-212FA0ECF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6140EA-E67F-A3BC-9727-E40BBFC72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81E1A-5941-3941-92B3-46876160F92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D6A4C-95C9-A5D7-5B11-342588C2D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44724-E437-AA36-092D-FADFD7BD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B3D87-B394-ED4E-AFD3-BE6A47AF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395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A44DD-9129-2698-F79F-ABA6E3AFD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EA19ED-2519-5855-B385-205D5DD07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1ED88-B1A6-8786-DA65-B26FA8D4A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32680-CEE6-795D-15BC-169543796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81E1A-5941-3941-92B3-46876160F92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F778F-F439-AA47-DCC2-748E2144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F29C1D-5A40-7B3D-F642-529F84465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B3D87-B394-ED4E-AFD3-BE6A47AF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1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C1C2D-E6A3-F169-21FD-A90C15DDE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5F544-E42E-24C4-4882-5B2A343C91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1D08B-86F4-9FFB-4A2E-A814F40EF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81E1A-5941-3941-92B3-46876160F92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91436-49DB-DE49-E051-DFCD7D7CB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A3CA1-28EF-8A7B-AE8A-12077C50E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B3D87-B394-ED4E-AFD3-BE6A47AF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11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3D9AB-8510-A89D-F970-3A68A0E36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19728-DD46-84EF-265C-5E19A6CC3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11EAE-60CC-0C7D-5A15-6A03C63BE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81E1A-5941-3941-92B3-46876160F92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E8673-11FB-D41F-17F2-91D4E49BF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6E7E6-DD53-2AD9-CC8F-F6B630DA2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B3D87-B394-ED4E-AFD3-BE6A47AF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80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A41D6-986E-8DB8-3FB7-C8A9895D3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51CA3-7C34-5FC4-D73A-2306E3B00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0CE9F-18EB-8717-ABB4-AC3FC57569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381E1A-5941-3941-92B3-46876160F92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28F48-0526-C989-55BD-64A1069946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E72E8-4944-DFD0-1629-01F8C41DD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7B3D87-B394-ED4E-AFD3-BE6A47AF1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9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DA3C418-758E-4180-A5D0-8655D680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C8EF06-5EC3-4883-AFAF-D74FF465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5135971" cy="687164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F6D6B9-FF55-7237-8DCB-BD5BA01741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0" r="1981" b="1"/>
          <a:stretch/>
        </p:blipFill>
        <p:spPr>
          <a:xfrm>
            <a:off x="2915455" y="10"/>
            <a:ext cx="9276545" cy="6857990"/>
          </a:xfrm>
          <a:custGeom>
            <a:avLst/>
            <a:gdLst/>
            <a:ahLst/>
            <a:cxnLst/>
            <a:rect l="l" t="t" r="r" b="b"/>
            <a:pathLst>
              <a:path w="9276545" h="6871647">
                <a:moveTo>
                  <a:pt x="9276545" y="0"/>
                </a:moveTo>
                <a:lnTo>
                  <a:pt x="9276545" y="6858000"/>
                </a:lnTo>
                <a:lnTo>
                  <a:pt x="1546051" y="6871647"/>
                </a:lnTo>
                <a:lnTo>
                  <a:pt x="1535751" y="6828910"/>
                </a:lnTo>
                <a:cubicBezTo>
                  <a:pt x="1530460" y="6775140"/>
                  <a:pt x="1515370" y="6618042"/>
                  <a:pt x="1514301" y="6549029"/>
                </a:cubicBezTo>
                <a:cubicBezTo>
                  <a:pt x="1518045" y="6491396"/>
                  <a:pt x="1528503" y="6450608"/>
                  <a:pt x="1529339" y="6414828"/>
                </a:cubicBezTo>
                <a:cubicBezTo>
                  <a:pt x="1525062" y="6359280"/>
                  <a:pt x="1502062" y="6307149"/>
                  <a:pt x="1493941" y="6268848"/>
                </a:cubicBezTo>
                <a:cubicBezTo>
                  <a:pt x="1502669" y="6254191"/>
                  <a:pt x="1469920" y="6200171"/>
                  <a:pt x="1480613" y="6185025"/>
                </a:cubicBezTo>
                <a:cubicBezTo>
                  <a:pt x="1481020" y="6164522"/>
                  <a:pt x="1458164" y="6060790"/>
                  <a:pt x="1443364" y="6018360"/>
                </a:cubicBezTo>
                <a:cubicBezTo>
                  <a:pt x="1426694" y="5970758"/>
                  <a:pt x="1390307" y="5920074"/>
                  <a:pt x="1380584" y="5899407"/>
                </a:cubicBezTo>
                <a:cubicBezTo>
                  <a:pt x="1370860" y="5878740"/>
                  <a:pt x="1392244" y="5920877"/>
                  <a:pt x="1385023" y="5894356"/>
                </a:cubicBezTo>
                <a:cubicBezTo>
                  <a:pt x="1377800" y="5867835"/>
                  <a:pt x="1345702" y="5770498"/>
                  <a:pt x="1337254" y="5740279"/>
                </a:cubicBezTo>
                <a:cubicBezTo>
                  <a:pt x="1353956" y="5738860"/>
                  <a:pt x="1323673" y="5722040"/>
                  <a:pt x="1334321" y="5713042"/>
                </a:cubicBezTo>
                <a:cubicBezTo>
                  <a:pt x="1343675" y="5706701"/>
                  <a:pt x="1336672" y="5700118"/>
                  <a:pt x="1335877" y="5692870"/>
                </a:cubicBezTo>
                <a:cubicBezTo>
                  <a:pt x="1343201" y="5683812"/>
                  <a:pt x="1329617" y="5652064"/>
                  <a:pt x="1319978" y="5643427"/>
                </a:cubicBezTo>
                <a:cubicBezTo>
                  <a:pt x="1286551" y="5622177"/>
                  <a:pt x="1310947" y="5579803"/>
                  <a:pt x="1285321" y="5562271"/>
                </a:cubicBezTo>
                <a:cubicBezTo>
                  <a:pt x="1281540" y="5556238"/>
                  <a:pt x="1279983" y="5550455"/>
                  <a:pt x="1279815" y="5544867"/>
                </a:cubicBezTo>
                <a:lnTo>
                  <a:pt x="1282507" y="5529404"/>
                </a:lnTo>
                <a:lnTo>
                  <a:pt x="1289604" y="5525378"/>
                </a:lnTo>
                <a:lnTo>
                  <a:pt x="1287766" y="5515726"/>
                </a:lnTo>
                <a:lnTo>
                  <a:pt x="1288829" y="5513051"/>
                </a:lnTo>
                <a:cubicBezTo>
                  <a:pt x="1290896" y="5507946"/>
                  <a:pt x="1292688" y="5502897"/>
                  <a:pt x="1293373" y="5497833"/>
                </a:cubicBezTo>
                <a:cubicBezTo>
                  <a:pt x="1288690" y="5483829"/>
                  <a:pt x="1272696" y="5459278"/>
                  <a:pt x="1260736" y="5429027"/>
                </a:cubicBezTo>
                <a:cubicBezTo>
                  <a:pt x="1238579" y="5396416"/>
                  <a:pt x="1238884" y="5351600"/>
                  <a:pt x="1221610" y="5316328"/>
                </a:cubicBezTo>
                <a:lnTo>
                  <a:pt x="1216099" y="5309330"/>
                </a:lnTo>
                <a:lnTo>
                  <a:pt x="1217278" y="5279477"/>
                </a:lnTo>
                <a:cubicBezTo>
                  <a:pt x="1221588" y="5274318"/>
                  <a:pt x="1222716" y="5266940"/>
                  <a:pt x="1218469" y="5260597"/>
                </a:cubicBezTo>
                <a:lnTo>
                  <a:pt x="1206220" y="5152555"/>
                </a:lnTo>
                <a:cubicBezTo>
                  <a:pt x="1205294" y="5116878"/>
                  <a:pt x="1196908" y="5101727"/>
                  <a:pt x="1212921" y="5046536"/>
                </a:cubicBezTo>
                <a:cubicBezTo>
                  <a:pt x="1234138" y="4987918"/>
                  <a:pt x="1204801" y="4903116"/>
                  <a:pt x="1212183" y="4837345"/>
                </a:cubicBezTo>
                <a:cubicBezTo>
                  <a:pt x="1183151" y="4802424"/>
                  <a:pt x="1209228" y="4821062"/>
                  <a:pt x="1202048" y="4784195"/>
                </a:cubicBezTo>
                <a:cubicBezTo>
                  <a:pt x="1202483" y="4760878"/>
                  <a:pt x="1202919" y="4737561"/>
                  <a:pt x="1203354" y="4714245"/>
                </a:cubicBezTo>
                <a:lnTo>
                  <a:pt x="1201502" y="4700836"/>
                </a:lnTo>
                <a:lnTo>
                  <a:pt x="1194919" y="4697224"/>
                </a:lnTo>
                <a:lnTo>
                  <a:pt x="1187792" y="4677162"/>
                </a:lnTo>
                <a:cubicBezTo>
                  <a:pt x="1186060" y="4669625"/>
                  <a:pt x="1185291" y="4661478"/>
                  <a:pt x="1186080" y="4652429"/>
                </a:cubicBezTo>
                <a:cubicBezTo>
                  <a:pt x="1199189" y="4622456"/>
                  <a:pt x="1167081" y="4571771"/>
                  <a:pt x="1184722" y="4534840"/>
                </a:cubicBezTo>
                <a:cubicBezTo>
                  <a:pt x="1182407" y="4499077"/>
                  <a:pt x="1175424" y="4460227"/>
                  <a:pt x="1172188" y="4437851"/>
                </a:cubicBezTo>
                <a:cubicBezTo>
                  <a:pt x="1161331" y="4428466"/>
                  <a:pt x="1178123" y="4398274"/>
                  <a:pt x="1165306" y="4400581"/>
                </a:cubicBezTo>
                <a:cubicBezTo>
                  <a:pt x="1171061" y="4389819"/>
                  <a:pt x="1173552" y="4346771"/>
                  <a:pt x="1168602" y="4335651"/>
                </a:cubicBezTo>
                <a:lnTo>
                  <a:pt x="1178384" y="4280215"/>
                </a:lnTo>
                <a:lnTo>
                  <a:pt x="1177294" y="4274660"/>
                </a:lnTo>
                <a:cubicBezTo>
                  <a:pt x="1177138" y="4268882"/>
                  <a:pt x="1177520" y="4251103"/>
                  <a:pt x="1177448" y="4245552"/>
                </a:cubicBezTo>
                <a:cubicBezTo>
                  <a:pt x="1177252" y="4244155"/>
                  <a:pt x="1177058" y="4242757"/>
                  <a:pt x="1176863" y="4241361"/>
                </a:cubicBezTo>
                <a:lnTo>
                  <a:pt x="1162386" y="4207167"/>
                </a:lnTo>
                <a:cubicBezTo>
                  <a:pt x="1162950" y="4202536"/>
                  <a:pt x="1174655" y="4199565"/>
                  <a:pt x="1174343" y="4192380"/>
                </a:cubicBezTo>
                <a:lnTo>
                  <a:pt x="1160516" y="4164062"/>
                </a:lnTo>
                <a:lnTo>
                  <a:pt x="1161365" y="4158623"/>
                </a:lnTo>
                <a:lnTo>
                  <a:pt x="1144878" y="4076261"/>
                </a:lnTo>
                <a:lnTo>
                  <a:pt x="1123687" y="4005692"/>
                </a:lnTo>
                <a:lnTo>
                  <a:pt x="1096720" y="3754257"/>
                </a:lnTo>
                <a:cubicBezTo>
                  <a:pt x="1083618" y="3639924"/>
                  <a:pt x="1064313" y="3636659"/>
                  <a:pt x="1047682" y="3517638"/>
                </a:cubicBezTo>
                <a:cubicBezTo>
                  <a:pt x="1048550" y="3477187"/>
                  <a:pt x="1049418" y="3436735"/>
                  <a:pt x="1050285" y="3396284"/>
                </a:cubicBezTo>
                <a:lnTo>
                  <a:pt x="1030166" y="3320814"/>
                </a:lnTo>
                <a:lnTo>
                  <a:pt x="1034128" y="3260443"/>
                </a:lnTo>
                <a:lnTo>
                  <a:pt x="1007751" y="3198916"/>
                </a:lnTo>
                <a:cubicBezTo>
                  <a:pt x="1003323" y="3193074"/>
                  <a:pt x="1001150" y="3187393"/>
                  <a:pt x="1000384" y="3181839"/>
                </a:cubicBezTo>
                <a:cubicBezTo>
                  <a:pt x="1000734" y="3176675"/>
                  <a:pt x="1001085" y="3171511"/>
                  <a:pt x="1001435" y="3166346"/>
                </a:cubicBezTo>
                <a:lnTo>
                  <a:pt x="968918" y="3112638"/>
                </a:lnTo>
                <a:cubicBezTo>
                  <a:pt x="957125" y="3092489"/>
                  <a:pt x="955617" y="3065232"/>
                  <a:pt x="934483" y="3031628"/>
                </a:cubicBezTo>
                <a:cubicBezTo>
                  <a:pt x="914631" y="2997037"/>
                  <a:pt x="908933" y="3005661"/>
                  <a:pt x="879229" y="2948196"/>
                </a:cubicBezTo>
                <a:cubicBezTo>
                  <a:pt x="850845" y="2897154"/>
                  <a:pt x="820829" y="2806798"/>
                  <a:pt x="798666" y="2761198"/>
                </a:cubicBezTo>
                <a:cubicBezTo>
                  <a:pt x="773970" y="2714562"/>
                  <a:pt x="758278" y="2715446"/>
                  <a:pt x="746962" y="2694939"/>
                </a:cubicBezTo>
                <a:lnTo>
                  <a:pt x="712796" y="2614779"/>
                </a:lnTo>
                <a:lnTo>
                  <a:pt x="697701" y="2600020"/>
                </a:lnTo>
                <a:cubicBezTo>
                  <a:pt x="697743" y="2598787"/>
                  <a:pt x="697784" y="2597555"/>
                  <a:pt x="697823" y="2596321"/>
                </a:cubicBezTo>
                <a:lnTo>
                  <a:pt x="679645" y="2572602"/>
                </a:lnTo>
                <a:lnTo>
                  <a:pt x="680789" y="2571831"/>
                </a:lnTo>
                <a:cubicBezTo>
                  <a:pt x="682946" y="2569560"/>
                  <a:pt x="683757" y="2566863"/>
                  <a:pt x="681771" y="2563200"/>
                </a:cubicBezTo>
                <a:cubicBezTo>
                  <a:pt x="705290" y="2562299"/>
                  <a:pt x="688388" y="2558438"/>
                  <a:pt x="680456" y="2547723"/>
                </a:cubicBezTo>
                <a:cubicBezTo>
                  <a:pt x="679482" y="2534148"/>
                  <a:pt x="677183" y="2493617"/>
                  <a:pt x="675922" y="2481749"/>
                </a:cubicBezTo>
                <a:lnTo>
                  <a:pt x="672894" y="2476509"/>
                </a:lnTo>
                <a:lnTo>
                  <a:pt x="673143" y="2476297"/>
                </a:lnTo>
                <a:cubicBezTo>
                  <a:pt x="673152" y="2474932"/>
                  <a:pt x="672405" y="2473126"/>
                  <a:pt x="670567" y="2470561"/>
                </a:cubicBezTo>
                <a:lnTo>
                  <a:pt x="667369" y="2466951"/>
                </a:lnTo>
                <a:lnTo>
                  <a:pt x="661495" y="2456785"/>
                </a:lnTo>
                <a:cubicBezTo>
                  <a:pt x="661510" y="2455387"/>
                  <a:pt x="661525" y="2453987"/>
                  <a:pt x="661540" y="2452588"/>
                </a:cubicBezTo>
                <a:lnTo>
                  <a:pt x="664540" y="2449913"/>
                </a:lnTo>
                <a:lnTo>
                  <a:pt x="663581" y="2449129"/>
                </a:lnTo>
                <a:cubicBezTo>
                  <a:pt x="653014" y="2444453"/>
                  <a:pt x="642406" y="2445872"/>
                  <a:pt x="663129" y="2426579"/>
                </a:cubicBezTo>
                <a:cubicBezTo>
                  <a:pt x="643271" y="2414167"/>
                  <a:pt x="657229" y="2404769"/>
                  <a:pt x="650205" y="2379928"/>
                </a:cubicBezTo>
                <a:cubicBezTo>
                  <a:pt x="634911" y="2374359"/>
                  <a:pt x="634260" y="2365346"/>
                  <a:pt x="638008" y="2354824"/>
                </a:cubicBezTo>
                <a:cubicBezTo>
                  <a:pt x="621083" y="2334576"/>
                  <a:pt x="620949" y="2310146"/>
                  <a:pt x="609851" y="2284299"/>
                </a:cubicBezTo>
                <a:lnTo>
                  <a:pt x="585585" y="2155739"/>
                </a:lnTo>
                <a:lnTo>
                  <a:pt x="581391" y="2152892"/>
                </a:lnTo>
                <a:cubicBezTo>
                  <a:pt x="578821" y="2150768"/>
                  <a:pt x="577525" y="2149149"/>
                  <a:pt x="577083" y="2147807"/>
                </a:cubicBezTo>
                <a:lnTo>
                  <a:pt x="577251" y="2147544"/>
                </a:lnTo>
                <a:lnTo>
                  <a:pt x="546845" y="2085601"/>
                </a:lnTo>
                <a:cubicBezTo>
                  <a:pt x="538270" y="2073917"/>
                  <a:pt x="486356" y="1955894"/>
                  <a:pt x="470837" y="1931362"/>
                </a:cubicBezTo>
                <a:lnTo>
                  <a:pt x="428154" y="1657167"/>
                </a:lnTo>
                <a:lnTo>
                  <a:pt x="392797" y="1510175"/>
                </a:lnTo>
                <a:cubicBezTo>
                  <a:pt x="380165" y="1504446"/>
                  <a:pt x="369910" y="1451095"/>
                  <a:pt x="372847" y="1440507"/>
                </a:cubicBezTo>
                <a:cubicBezTo>
                  <a:pt x="369015" y="1433783"/>
                  <a:pt x="338503" y="1376212"/>
                  <a:pt x="344479" y="1367690"/>
                </a:cubicBezTo>
                <a:cubicBezTo>
                  <a:pt x="332264" y="1342150"/>
                  <a:pt x="321736" y="1310521"/>
                  <a:pt x="299558" y="1287266"/>
                </a:cubicBezTo>
                <a:cubicBezTo>
                  <a:pt x="277380" y="1264010"/>
                  <a:pt x="259203" y="1269909"/>
                  <a:pt x="243216" y="1249403"/>
                </a:cubicBezTo>
                <a:cubicBezTo>
                  <a:pt x="227230" y="1228898"/>
                  <a:pt x="218454" y="1166841"/>
                  <a:pt x="203639" y="1164232"/>
                </a:cubicBezTo>
                <a:cubicBezTo>
                  <a:pt x="192352" y="1144923"/>
                  <a:pt x="198158" y="1133798"/>
                  <a:pt x="169195" y="1087898"/>
                </a:cubicBezTo>
                <a:cubicBezTo>
                  <a:pt x="139228" y="1002950"/>
                  <a:pt x="140891" y="969630"/>
                  <a:pt x="98775" y="910071"/>
                </a:cubicBezTo>
                <a:cubicBezTo>
                  <a:pt x="45025" y="831068"/>
                  <a:pt x="34038" y="817468"/>
                  <a:pt x="43820" y="712632"/>
                </a:cubicBezTo>
                <a:cubicBezTo>
                  <a:pt x="34816" y="659496"/>
                  <a:pt x="43273" y="613587"/>
                  <a:pt x="44748" y="591246"/>
                </a:cubicBezTo>
                <a:lnTo>
                  <a:pt x="36767" y="546725"/>
                </a:lnTo>
                <a:cubicBezTo>
                  <a:pt x="36093" y="528360"/>
                  <a:pt x="35418" y="509996"/>
                  <a:pt x="34744" y="491632"/>
                </a:cubicBezTo>
                <a:cubicBezTo>
                  <a:pt x="34670" y="458441"/>
                  <a:pt x="29296" y="473054"/>
                  <a:pt x="29222" y="439863"/>
                </a:cubicBezTo>
                <a:cubicBezTo>
                  <a:pt x="29152" y="439762"/>
                  <a:pt x="2578" y="397168"/>
                  <a:pt x="2507" y="397065"/>
                </a:cubicBezTo>
                <a:cubicBezTo>
                  <a:pt x="-7796" y="385479"/>
                  <a:pt x="17492" y="336832"/>
                  <a:pt x="9810" y="317232"/>
                </a:cubicBezTo>
                <a:lnTo>
                  <a:pt x="25323" y="268841"/>
                </a:lnTo>
                <a:cubicBezTo>
                  <a:pt x="20582" y="241406"/>
                  <a:pt x="55391" y="238509"/>
                  <a:pt x="50278" y="195107"/>
                </a:cubicBezTo>
                <a:cubicBezTo>
                  <a:pt x="49891" y="157638"/>
                  <a:pt x="41873" y="124837"/>
                  <a:pt x="47653" y="93413"/>
                </a:cubicBezTo>
                <a:cubicBezTo>
                  <a:pt x="41389" y="80245"/>
                  <a:pt x="38874" y="67990"/>
                  <a:pt x="48323" y="56668"/>
                </a:cubicBezTo>
                <a:cubicBezTo>
                  <a:pt x="46028" y="30349"/>
                  <a:pt x="37896" y="18658"/>
                  <a:pt x="38423" y="5323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B1988B-05E5-A8F4-F112-B782BB41F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36" y="3097886"/>
            <a:ext cx="3161940" cy="1322232"/>
          </a:xfrm>
        </p:spPr>
        <p:txBody>
          <a:bodyPr>
            <a:noAutofit/>
          </a:bodyPr>
          <a:lstStyle/>
          <a:p>
            <a:r>
              <a:rPr lang="en-US" sz="4000" b="1" i="1" dirty="0">
                <a:effectLst/>
                <a:latin typeface="Times New Roman"/>
                <a:ea typeface="Calibri"/>
                <a:cs typeface="Times New Roman"/>
              </a:rPr>
              <a:t>D-Wave Quantum Inc.  (QBTS)</a:t>
            </a:r>
            <a:endParaRPr lang="en-US" sz="4000" b="1" i="1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9074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35C956CA-A8FB-4F91-A258-FBE459CD9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7DF234D-728B-86BB-5C30-4B54082CC3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085" r="2" b="15375"/>
          <a:stretch/>
        </p:blipFill>
        <p:spPr>
          <a:xfrm>
            <a:off x="5546558" y="-1"/>
            <a:ext cx="6645441" cy="2391331"/>
          </a:xfrm>
          <a:prstGeom prst="rect">
            <a:avLst/>
          </a:prstGeom>
        </p:spPr>
      </p:pic>
      <p:pic>
        <p:nvPicPr>
          <p:cNvPr id="20" name="Picture 19" descr="Glowing circuit board">
            <a:extLst>
              <a:ext uri="{FF2B5EF4-FFF2-40B4-BE49-F238E27FC236}">
                <a16:creationId xmlns:a16="http://schemas.microsoft.com/office/drawing/2014/main" id="{5582DA61-2602-3377-1EAD-339632DAD1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" r="345"/>
          <a:stretch/>
        </p:blipFill>
        <p:spPr>
          <a:xfrm>
            <a:off x="5546558" y="2391337"/>
            <a:ext cx="6645441" cy="4466657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70A48D59-8581-41F7-B529-F4617FE0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6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3CEED4A-9172-3DD9-22A5-CE4063F1F968}"/>
              </a:ext>
            </a:extLst>
          </p:cNvPr>
          <p:cNvSpPr txBox="1">
            <a:spLocks/>
          </p:cNvSpPr>
          <p:nvPr/>
        </p:nvSpPr>
        <p:spPr>
          <a:xfrm>
            <a:off x="1187668" y="910431"/>
            <a:ext cx="4641631" cy="14664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kern="1200">
                <a:solidFill>
                  <a:schemeClr val="bg1"/>
                </a:solidFill>
                <a:latin typeface="Sitka Text"/>
              </a:rPr>
              <a:t>Company Description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67F2066-0253-4771-A5F6-68111E1FE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87669" y="2397906"/>
            <a:ext cx="11004331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9E379F3-7B03-3199-AE90-1B2B9642D662}"/>
              </a:ext>
            </a:extLst>
          </p:cNvPr>
          <p:cNvSpPr txBox="1"/>
          <p:nvPr/>
        </p:nvSpPr>
        <p:spPr>
          <a:xfrm>
            <a:off x="1187668" y="2492080"/>
            <a:ext cx="4641631" cy="301584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>
                <a:solidFill>
                  <a:schemeClr val="bg1"/>
                </a:solidFill>
                <a:latin typeface="Sitka Text"/>
              </a:rPr>
              <a:t>Founded in 1999​</a:t>
            </a:r>
            <a:endParaRPr lang="en-US">
              <a:solidFill>
                <a:schemeClr val="bg1"/>
              </a:solidFill>
              <a:latin typeface="Sitka Text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>
                <a:solidFill>
                  <a:schemeClr val="bg1"/>
                </a:solidFill>
                <a:latin typeface="Sitka Text"/>
              </a:rPr>
              <a:t>Products​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>
                <a:solidFill>
                  <a:schemeClr val="bg1"/>
                </a:solidFill>
                <a:latin typeface="Sitka Text"/>
              </a:rPr>
              <a:t>QPU Chips &amp; Computers​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>
                <a:solidFill>
                  <a:schemeClr val="bg1"/>
                </a:solidFill>
                <a:latin typeface="Sitka Text"/>
              </a:rPr>
              <a:t>Cloud-Based Optimization Solutions​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>
                <a:solidFill>
                  <a:schemeClr val="bg1"/>
                </a:solidFill>
                <a:latin typeface="Sitka Text"/>
              </a:rPr>
              <a:t>Key Partners​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>
                <a:solidFill>
                  <a:schemeClr val="bg1"/>
                </a:solidFill>
                <a:latin typeface="Sitka Text"/>
              </a:rPr>
              <a:t>Google​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>
                <a:solidFill>
                  <a:schemeClr val="bg1"/>
                </a:solidFill>
                <a:latin typeface="Sitka Text"/>
              </a:rPr>
              <a:t>NASA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>
                <a:solidFill>
                  <a:schemeClr val="bg1"/>
                </a:solidFill>
                <a:latin typeface="Sitka Text"/>
              </a:rPr>
              <a:t>Shifting focus from purely annealing to include gate-based​</a:t>
            </a:r>
          </a:p>
        </p:txBody>
      </p:sp>
    </p:spTree>
    <p:extLst>
      <p:ext uri="{BB962C8B-B14F-4D97-AF65-F5344CB8AC3E}">
        <p14:creationId xmlns:p14="http://schemas.microsoft.com/office/powerpoint/2010/main" val="3894349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6F61277-ABE4-3A30-FEF5-5F47DBBED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3643" y="-156410"/>
            <a:ext cx="12750401" cy="728797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3B0F11-13DB-3714-D99B-E1BB87855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013460"/>
              </p:ext>
            </p:extLst>
          </p:nvPr>
        </p:nvGraphicFramePr>
        <p:xfrm>
          <a:off x="108284" y="1010653"/>
          <a:ext cx="11947355" cy="5861616"/>
        </p:xfrm>
        <a:graphic>
          <a:graphicData uri="http://schemas.openxmlformats.org/drawingml/2006/table">
            <a:tbl>
              <a:tblPr firstRow="1" bandRow="1">
                <a:solidFill>
                  <a:schemeClr val="accent2"/>
                </a:solidFill>
                <a:tableStyleId>{5C22544A-7EE6-4342-B048-85BDC9FD1C3A}</a:tableStyleId>
              </a:tblPr>
              <a:tblGrid>
                <a:gridCol w="1706765">
                  <a:extLst>
                    <a:ext uri="{9D8B030D-6E8A-4147-A177-3AD203B41FA5}">
                      <a16:colId xmlns:a16="http://schemas.microsoft.com/office/drawing/2014/main" val="2677629007"/>
                    </a:ext>
                  </a:extLst>
                </a:gridCol>
                <a:gridCol w="1706765">
                  <a:extLst>
                    <a:ext uri="{9D8B030D-6E8A-4147-A177-3AD203B41FA5}">
                      <a16:colId xmlns:a16="http://schemas.microsoft.com/office/drawing/2014/main" val="2444908933"/>
                    </a:ext>
                  </a:extLst>
                </a:gridCol>
                <a:gridCol w="1706765">
                  <a:extLst>
                    <a:ext uri="{9D8B030D-6E8A-4147-A177-3AD203B41FA5}">
                      <a16:colId xmlns:a16="http://schemas.microsoft.com/office/drawing/2014/main" val="249636300"/>
                    </a:ext>
                  </a:extLst>
                </a:gridCol>
                <a:gridCol w="1706765">
                  <a:extLst>
                    <a:ext uri="{9D8B030D-6E8A-4147-A177-3AD203B41FA5}">
                      <a16:colId xmlns:a16="http://schemas.microsoft.com/office/drawing/2014/main" val="1155364416"/>
                    </a:ext>
                  </a:extLst>
                </a:gridCol>
                <a:gridCol w="1706765">
                  <a:extLst>
                    <a:ext uri="{9D8B030D-6E8A-4147-A177-3AD203B41FA5}">
                      <a16:colId xmlns:a16="http://schemas.microsoft.com/office/drawing/2014/main" val="1304570710"/>
                    </a:ext>
                  </a:extLst>
                </a:gridCol>
                <a:gridCol w="1706765">
                  <a:extLst>
                    <a:ext uri="{9D8B030D-6E8A-4147-A177-3AD203B41FA5}">
                      <a16:colId xmlns:a16="http://schemas.microsoft.com/office/drawing/2014/main" val="4134575367"/>
                    </a:ext>
                  </a:extLst>
                </a:gridCol>
                <a:gridCol w="1706765">
                  <a:extLst>
                    <a:ext uri="{9D8B030D-6E8A-4147-A177-3AD203B41FA5}">
                      <a16:colId xmlns:a16="http://schemas.microsoft.com/office/drawing/2014/main" val="508378574"/>
                    </a:ext>
                  </a:extLst>
                </a:gridCol>
              </a:tblGrid>
              <a:tr h="154104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Company 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D-wave Quantum</a:t>
                      </a:r>
                    </a:p>
                    <a:p>
                      <a:pPr algn="ctr"/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none" strike="noStrike" kern="1200" err="1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Rigetti</a:t>
                      </a:r>
                      <a:r>
                        <a:rPr lang="en-US" sz="1800" b="1" u="none" strike="noStrike" kern="120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Computing Inc.</a:t>
                      </a:r>
                      <a:endParaRPr lang="en-US"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IonQ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Quantum Computing.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Inc.</a:t>
                      </a:r>
                      <a:endParaRPr lang="en-US" sz="1800" b="1" kern="120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IBM Quantum 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Quantum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720372"/>
                  </a:ext>
                </a:extLst>
              </a:tr>
              <a:tr h="419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$8.8M</a:t>
                      </a:r>
                      <a:endParaRPr 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$10.8M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$43.1M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$373K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$62.8B</a:t>
                      </a:r>
                      <a:endParaRPr 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61145"/>
                  </a:ext>
                </a:extLst>
              </a:tr>
              <a:tr h="13665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Industries Targeted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Manufacturing, Logistics, Financial Services, Cybersecurity, Healthcare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Government, Aerospace, Financial Modeling, Artificial Intelligence, Healthcare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Finance, Artificial Intelligence, Logistics, Pharmaceuticals, Cybersecurity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Cybersecurity, Optimization, Artificial Intelligence, Biomedicine, Remote Sensing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 Services,</a:t>
                      </a:r>
                    </a:p>
                    <a:p>
                      <a:pPr algn="ctr"/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Healthcare, Energy, Research,  Aerospace and 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Research, Artificial Intelligence, Materials Science, Pharmaceuticals, Energy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419309"/>
                  </a:ext>
                </a:extLst>
              </a:tr>
              <a:tr h="63773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</a:t>
                      </a:r>
                    </a:p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Capitalization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2.208B</a:t>
                      </a:r>
                      <a:endParaRPr 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lang="en-US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2.264B</a:t>
                      </a:r>
                      <a:endParaRPr 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$5.272B</a:t>
                      </a:r>
                      <a:endParaRPr 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1.16B</a:t>
                      </a:r>
                      <a:endParaRPr 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$226.25B</a:t>
                      </a:r>
                      <a:endParaRPr 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$1.878T</a:t>
                      </a:r>
                      <a:endParaRPr 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697703"/>
                  </a:ext>
                </a:extLst>
              </a:tr>
              <a:tr h="941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Technological Focus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Optimization, Hybrid solvers, Quantum annealing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Superconducting qubits, Hybrid systems, Cloud access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Trapped-ion qubits, High fidelity, Modular architecture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Photonic qubits, Room temperature, Hardware/software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Superconducting qubits, Cloud-based, Error-correcting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Superconducting qubits, Fault tolerance, R&amp;D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3290"/>
                  </a:ext>
                </a:extLst>
              </a:tr>
              <a:tr h="94142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 Proposition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Solves real-world problems with ready to use quantum tools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quantum and classical tech for easy cloud access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precision quantum you can access online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Simple, low-cost quantum systems for quick use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Makes quantum tech accessible for learning, research, and businesses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Leading research that advances the whole field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200427"/>
                  </a:ext>
                </a:extLst>
              </a:tr>
            </a:tbl>
          </a:graphicData>
        </a:graphic>
      </p:graphicFrame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EAE5F7C-69F9-1153-0CAC-E0580DAC1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673" y="1870018"/>
            <a:ext cx="1170132" cy="5850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1C1708-88D0-DFD0-4E70-6D7EB23B5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2997" y="1948843"/>
            <a:ext cx="966826" cy="5062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9AB0DE-70F5-0EBB-5142-D8B54BBEC6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196" y="1727773"/>
            <a:ext cx="1137530" cy="708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493ACC-FDBE-5B5F-421B-99E7ED568A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099" y="1884558"/>
            <a:ext cx="966825" cy="6348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ABD4A0-3AE4-D091-BD7C-E1B3BD69E5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4297" y="1616918"/>
            <a:ext cx="878114" cy="8781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BB52BD-6EF1-361F-7ECB-439CA222968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1134" b="50259"/>
          <a:stretch/>
        </p:blipFill>
        <p:spPr>
          <a:xfrm>
            <a:off x="10545784" y="1686996"/>
            <a:ext cx="1351739" cy="737958"/>
          </a:xfrm>
          <a:prstGeom prst="rect">
            <a:avLst/>
          </a:prstGeom>
        </p:spPr>
      </p:pic>
      <p:pic>
        <p:nvPicPr>
          <p:cNvPr id="10" name="Picture 9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8C2A677B-658F-E847-7953-2BA13637F8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06125" y="-61894"/>
            <a:ext cx="1285875" cy="6953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625A3C-7752-A155-639A-C0C08E2021C3}"/>
              </a:ext>
            </a:extLst>
          </p:cNvPr>
          <p:cNvSpPr txBox="1"/>
          <p:nvPr/>
        </p:nvSpPr>
        <p:spPr>
          <a:xfrm>
            <a:off x="239425" y="290211"/>
            <a:ext cx="82139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Industry/Peer Comparison​</a:t>
            </a:r>
          </a:p>
        </p:txBody>
      </p:sp>
    </p:spTree>
    <p:extLst>
      <p:ext uri="{BB962C8B-B14F-4D97-AF65-F5344CB8AC3E}">
        <p14:creationId xmlns:p14="http://schemas.microsoft.com/office/powerpoint/2010/main" val="1850345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graph">
            <a:extLst>
              <a:ext uri="{FF2B5EF4-FFF2-40B4-BE49-F238E27FC236}">
                <a16:creationId xmlns:a16="http://schemas.microsoft.com/office/drawing/2014/main" id="{E48FA52C-0A58-B6E9-29C6-4D51B561C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916" y="-211666"/>
            <a:ext cx="12451667" cy="717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75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E459257-522E-DB13-79DA-13AA8DAD0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288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869972B-160E-EEA3-AAD8-2B72A6269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076" y="3429000"/>
            <a:ext cx="1217351" cy="63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172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white text">
            <a:extLst>
              <a:ext uri="{FF2B5EF4-FFF2-40B4-BE49-F238E27FC236}">
                <a16:creationId xmlns:a16="http://schemas.microsoft.com/office/drawing/2014/main" id="{626EF4B1-7B71-199A-B888-34D04ECE8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362" y="-84666"/>
            <a:ext cx="12368474" cy="70696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950DDB-9488-AA1B-6BEE-BF89FCBC2851}"/>
              </a:ext>
            </a:extLst>
          </p:cNvPr>
          <p:cNvSpPr txBox="1"/>
          <p:nvPr/>
        </p:nvSpPr>
        <p:spPr>
          <a:xfrm>
            <a:off x="395817" y="776817"/>
            <a:ext cx="27432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u="sng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Conclusion</a:t>
            </a:r>
            <a:r>
              <a:rPr lang="en-US" sz="400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3C89A8-08AB-551D-92E8-D95877363DA8}"/>
              </a:ext>
            </a:extLst>
          </p:cNvPr>
          <p:cNvSpPr txBox="1"/>
          <p:nvPr/>
        </p:nvSpPr>
        <p:spPr>
          <a:xfrm>
            <a:off x="194734" y="1898651"/>
            <a:ext cx="4129615" cy="40395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3000" b="1">
                <a:solidFill>
                  <a:srgbClr val="FFFFFF"/>
                </a:solidFill>
                <a:latin typeface="Times New Roman"/>
                <a:cs typeface="Calibri"/>
              </a:rPr>
              <a:t>Key Strengths</a:t>
            </a:r>
            <a:endParaRPr lang="en-US" sz="3000">
              <a:solidFill>
                <a:srgbClr val="FFFFFF"/>
              </a:solidFill>
              <a:latin typeface="Times New Roman"/>
              <a:ea typeface="Calibri"/>
              <a:cs typeface="Calibri"/>
            </a:endParaRP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imes New Roman"/>
                <a:ea typeface="Calibri"/>
                <a:cs typeface="Arial"/>
              </a:rPr>
              <a:t>Specialization in Quantum Annealing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imes New Roman"/>
                <a:ea typeface="Calibri"/>
                <a:cs typeface="Arial"/>
              </a:rPr>
              <a:t>Diverse Customer  Base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imes New Roman"/>
                <a:ea typeface="Calibri"/>
                <a:cs typeface="Arial"/>
              </a:rPr>
              <a:t>Strong Research Partnerships 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imes New Roman"/>
                <a:ea typeface="Calibri"/>
                <a:cs typeface="Arial"/>
              </a:rPr>
              <a:t>Continuous Innovation</a:t>
            </a:r>
          </a:p>
          <a:p>
            <a:pPr>
              <a:lnSpc>
                <a:spcPts val="2925"/>
              </a:lnSpc>
            </a:pPr>
            <a:endParaRPr lang="en-US" sz="2600">
              <a:solidFill>
                <a:srgbClr val="FFFFFF"/>
              </a:solidFill>
              <a:latin typeface="Times New Roman"/>
              <a:ea typeface="Calibri"/>
              <a:cs typeface="Arial"/>
            </a:endParaRPr>
          </a:p>
          <a:p>
            <a:pPr marL="228600" indent="-228600">
              <a:buFont typeface=""/>
              <a:buChar char="•"/>
            </a:pPr>
            <a:endParaRPr lang="en-US" sz="2800">
              <a:solidFill>
                <a:srgbClr val="FFFFFF"/>
              </a:solidFill>
              <a:latin typeface="Times New Roman"/>
              <a:ea typeface="Calibri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EE1C74-5B78-7958-3878-E03310AD6089}"/>
              </a:ext>
            </a:extLst>
          </p:cNvPr>
          <p:cNvSpPr txBox="1"/>
          <p:nvPr/>
        </p:nvSpPr>
        <p:spPr>
          <a:xfrm>
            <a:off x="4332817" y="1898650"/>
            <a:ext cx="3960282" cy="3480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3000" b="1">
                <a:solidFill>
                  <a:schemeClr val="bg1"/>
                </a:solidFill>
                <a:latin typeface="Times New Roman"/>
                <a:cs typeface="Calibri"/>
              </a:rPr>
              <a:t>Risk Factors </a:t>
            </a:r>
            <a:endParaRPr lang="en-US" sz="3000">
              <a:solidFill>
                <a:schemeClr val="bg1"/>
              </a:solidFill>
              <a:latin typeface="Times New Roman"/>
              <a:ea typeface="Calibri"/>
              <a:cs typeface="Calibri"/>
            </a:endParaRP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Calibri"/>
                <a:cs typeface="Arial"/>
              </a:rPr>
              <a:t>Financial Strain and Profitability Challenges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Calibri"/>
                <a:cs typeface="Arial"/>
              </a:rPr>
              <a:t>Intense Industry Competition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Calibri"/>
                <a:cs typeface="Arial"/>
              </a:rPr>
              <a:t>Uncertainty in Development and Advancement</a:t>
            </a:r>
          </a:p>
          <a:p>
            <a:pPr>
              <a:lnSpc>
                <a:spcPts val="2925"/>
              </a:lnSpc>
            </a:pPr>
            <a:endParaRPr lang="en-US" sz="2600">
              <a:solidFill>
                <a:schemeClr val="bg1"/>
              </a:solidFill>
              <a:latin typeface="Times New Roman"/>
              <a:ea typeface="Calibr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857080-94DE-1C15-DD39-7AF5E78071DD}"/>
              </a:ext>
            </a:extLst>
          </p:cNvPr>
          <p:cNvSpPr txBox="1"/>
          <p:nvPr/>
        </p:nvSpPr>
        <p:spPr>
          <a:xfrm>
            <a:off x="7994650" y="1803400"/>
            <a:ext cx="4193116" cy="30868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3000" b="1">
                <a:solidFill>
                  <a:schemeClr val="bg1"/>
                </a:solidFill>
                <a:latin typeface="Times New Roman"/>
                <a:cs typeface="Calibri"/>
              </a:rPr>
              <a:t>Growth Opportunities </a:t>
            </a:r>
            <a:endParaRPr lang="en-US" sz="3000">
              <a:solidFill>
                <a:schemeClr val="bg1"/>
              </a:solidFill>
              <a:latin typeface="Times New Roman"/>
              <a:ea typeface="Calibri"/>
              <a:cs typeface="Calibri"/>
            </a:endParaRP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Calibri"/>
                <a:cs typeface="Arial"/>
              </a:rPr>
              <a:t>Sector-Specific Applications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Calibri"/>
                <a:cs typeface="Arial"/>
              </a:rPr>
              <a:t>Innovation in Quantum Computing Technologies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Calibri"/>
                <a:cs typeface="Arial"/>
              </a:rPr>
              <a:t>Expansion of Academic and Research Partnerships</a:t>
            </a:r>
          </a:p>
          <a:p>
            <a:pPr>
              <a:lnSpc>
                <a:spcPts val="2700"/>
              </a:lnSpc>
            </a:pPr>
            <a:endParaRPr lang="en-US" sz="2600">
              <a:latin typeface="Times New Roman"/>
              <a:ea typeface="Calibri"/>
              <a:cs typeface="Calibri"/>
            </a:endParaRPr>
          </a:p>
        </p:txBody>
      </p:sp>
      <p:pic>
        <p:nvPicPr>
          <p:cNvPr id="10" name="Picture 9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ADD1001-D8B3-9FD6-AC54-545E3F56F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80" y="6288087"/>
            <a:ext cx="128587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523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white text">
            <a:extLst>
              <a:ext uri="{FF2B5EF4-FFF2-40B4-BE49-F238E27FC236}">
                <a16:creationId xmlns:a16="http://schemas.microsoft.com/office/drawing/2014/main" id="{26346696-083B-B77D-857C-54B9604F6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362" y="-84666"/>
            <a:ext cx="12368474" cy="70696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6ED026-A5B1-4C8C-B045-18EBFDC5CD25}"/>
              </a:ext>
            </a:extLst>
          </p:cNvPr>
          <p:cNvSpPr txBox="1"/>
          <p:nvPr/>
        </p:nvSpPr>
        <p:spPr>
          <a:xfrm>
            <a:off x="4085166" y="2698750"/>
            <a:ext cx="345228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i="1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95709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Microsoft Office PowerPoint</Application>
  <PresentationFormat>Widescreen</PresentationFormat>
  <Paragraphs>73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Sitka Text</vt:lpstr>
      <vt:lpstr>Times New Roman</vt:lpstr>
      <vt:lpstr>Office Theme</vt:lpstr>
      <vt:lpstr>D-Wave Quantum Inc.  (QBTS)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Marisa Goding</dc:creator>
  <cp:lastModifiedBy>Simran Pahuja</cp:lastModifiedBy>
  <cp:revision>4</cp:revision>
  <dcterms:created xsi:type="dcterms:W3CDTF">2025-02-18T17:31:06Z</dcterms:created>
  <dcterms:modified xsi:type="dcterms:W3CDTF">2025-12-24T05:45:02Z</dcterms:modified>
</cp:coreProperties>
</file>